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8" r:id="rId16"/>
    <p:sldId id="269" r:id="rId17"/>
    <p:sldId id="270" r:id="rId18"/>
    <p:sldId id="271" r:id="rId19"/>
    <p:sldId id="272" r:id="rId20"/>
    <p:sldId id="273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6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3A6E"/>
                </a:solidFill>
                <a:latin typeface="Arial"/>
              </a:rPr>
              <a:t>Energy Fraction by Layer Group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Energy fraction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0F-45D5-B57D-CDB4CD517A9F}"/>
              </c:ext>
            </c:extLst>
          </c:dPt>
          <c:dPt>
            <c:idx val="1"/>
            <c:bubble3D val="0"/>
            <c:spPr>
              <a:solidFill>
                <a:srgbClr val="2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0F-45D5-B57D-CDB4CD517A9F}"/>
              </c:ext>
            </c:extLst>
          </c:dPt>
          <c:dPt>
            <c:idx val="2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0F-45D5-B57D-CDB4CD517A9F}"/>
              </c:ext>
            </c:extLst>
          </c:dPt>
          <c:dPt>
            <c:idx val="3"/>
            <c:bubble3D val="0"/>
            <c:spPr>
              <a:solidFill>
                <a:srgbClr val="C4D9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D0F-45D5-B57D-CDB4CD517A9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D0F-45D5-B57D-CDB4CD517A9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0F-45D5-B57D-CDB4CD517A9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D0F-45D5-B57D-CDB4CD517A9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D0F-45D5-B57D-CDB4CD517A9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conv1_1
(R=3)</c:v>
                </c:pt>
                <c:pt idx="1">
                  <c:v>conv1_2
(R=5)</c:v>
                </c:pt>
                <c:pt idx="2">
                  <c:v>Layers 3–5
(R=10–51)</c:v>
                </c:pt>
                <c:pt idx="3">
                  <c:v>Layers 6–13
(R=67–196)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70.400000000000006</c:v>
                </c:pt>
                <c:pt idx="1">
                  <c:v>8</c:v>
                </c:pt>
                <c:pt idx="2">
                  <c:v>14</c:v>
                </c:pt>
                <c:pt idx="3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0F-45D5-B57D-CDB4CD517A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6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3A6E"/>
                </a:solidFill>
                <a:latin typeface="Arial"/>
              </a:rPr>
              <a:t>E(k) = mean ||W·x||²  vs. Mesh Level (M0 → M5)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GC Small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M0
(10008km)</c:v>
                </c:pt>
                <c:pt idx="1">
                  <c:v>M1
(5004km)</c:v>
                </c:pt>
                <c:pt idx="2">
                  <c:v>M2
(2502km)</c:v>
                </c:pt>
                <c:pt idx="3">
                  <c:v>M3
(1251km)</c:v>
                </c:pt>
                <c:pt idx="4">
                  <c:v>M4
(625km)</c:v>
                </c:pt>
                <c:pt idx="5">
                  <c:v>M5
(313km)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4.5785</c:v>
                </c:pt>
                <c:pt idx="1">
                  <c:v>1.4112</c:v>
                </c:pt>
                <c:pt idx="2">
                  <c:v>0.37469999999999998</c:v>
                </c:pt>
                <c:pt idx="3">
                  <c:v>9.6519999999999995E-2</c:v>
                </c:pt>
                <c:pt idx="4">
                  <c:v>2.563E-2</c:v>
                </c:pt>
                <c:pt idx="5">
                  <c:v>7.79E-3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EC-405F-8969-E505D8A9E2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GC Operational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M0
(10008km)</c:v>
                </c:pt>
                <c:pt idx="1">
                  <c:v>M1
(5004km)</c:v>
                </c:pt>
                <c:pt idx="2">
                  <c:v>M2
(2502km)</c:v>
                </c:pt>
                <c:pt idx="3">
                  <c:v>M3
(1251km)</c:v>
                </c:pt>
                <c:pt idx="4">
                  <c:v>M4
(625km)</c:v>
                </c:pt>
                <c:pt idx="5">
                  <c:v>M5
(313km)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4.2496</c:v>
                </c:pt>
                <c:pt idx="1">
                  <c:v>1.3084</c:v>
                </c:pt>
                <c:pt idx="2">
                  <c:v>0.34639999999999999</c:v>
                </c:pt>
                <c:pt idx="3">
                  <c:v>8.8440000000000005E-2</c:v>
                </c:pt>
                <c:pt idx="4">
                  <c:v>2.2880000000000001E-2</c:v>
                </c:pt>
                <c:pt idx="5">
                  <c:v>6.45E-3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EC-405F-8969-E505D8A9E2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GC Full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M0
(10008km)</c:v>
                </c:pt>
                <c:pt idx="1">
                  <c:v>M1
(5004km)</c:v>
                </c:pt>
                <c:pt idx="2">
                  <c:v>M2
(2502km)</c:v>
                </c:pt>
                <c:pt idx="3">
                  <c:v>M3
(1251km)</c:v>
                </c:pt>
                <c:pt idx="4">
                  <c:v>M4
(625km)</c:v>
                </c:pt>
                <c:pt idx="5">
                  <c:v>M5
(313km)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4.3217999999999996</c:v>
                </c:pt>
                <c:pt idx="1">
                  <c:v>1.3310999999999999</c:v>
                </c:pt>
                <c:pt idx="2">
                  <c:v>0.35260000000000002</c:v>
                </c:pt>
                <c:pt idx="3">
                  <c:v>9.0179999999999996E-2</c:v>
                </c:pt>
                <c:pt idx="4">
                  <c:v>2.3400000000000001E-2</c:v>
                </c:pt>
                <c:pt idx="5">
                  <c:v>6.6299999999999996E-3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EC-405F-8969-E505D8A9E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6E"/>
                </a:solidFill>
                <a:latin typeface="Arial"/>
              </a:defRPr>
            </a:pPr>
            <a:r>
              <a:rPr lang="en-IN" sz="1200" b="0" i="0" u="none" strike="noStrike" dirty="0">
                <a:solidFill>
                  <a:srgbClr val="1E3A6E"/>
                </a:solidFill>
                <a:latin typeface="Arial"/>
              </a:rPr>
              <a:t>S_H vs </a:t>
            </a:r>
            <a:r>
              <a:rPr lang="en-IN" sz="1200" b="0" i="0" u="none" strike="noStrike" dirty="0" err="1">
                <a:solidFill>
                  <a:srgbClr val="1E3A6E"/>
                </a:solidFill>
                <a:latin typeface="Arial"/>
              </a:rPr>
              <a:t>S_max</a:t>
            </a:r>
            <a:endParaRPr lang="en-IN" sz="1200" b="0" i="0" u="none" strike="noStrike" dirty="0">
              <a:solidFill>
                <a:srgbClr val="1E3A6E"/>
              </a:solidFill>
              <a:latin typeface="Arial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S_H</c:v>
                </c:pt>
              </c:strCache>
            </c:strRef>
          </c:tx>
          <c:spPr>
            <a:solidFill>
              <a:srgbClr val="1E3A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GC Small</c:v>
                </c:pt>
                <c:pt idx="1">
                  <c:v>GC Operational</c:v>
                </c:pt>
                <c:pt idx="2">
                  <c:v>GC Full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1.2049000000000001</c:v>
                </c:pt>
                <c:pt idx="1">
                  <c:v>1.2055</c:v>
                </c:pt>
                <c:pt idx="2">
                  <c:v>1.2061999999999999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2E-4A4D-B297-1973BAC951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S_max</c:v>
                </c:pt>
              </c:strCache>
            </c:strRef>
          </c:tx>
          <c:spPr>
            <a:solidFill>
              <a:srgbClr val="C4D9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GC Small</c:v>
                </c:pt>
                <c:pt idx="1">
                  <c:v>GC Operational</c:v>
                </c:pt>
                <c:pt idx="2">
                  <c:v>GC Full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2.585</c:v>
                </c:pt>
                <c:pt idx="1">
                  <c:v>2.8069999999999999</c:v>
                </c:pt>
                <c:pt idx="2">
                  <c:v>2.8069999999999999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2E-4A4D-B297-1973BAC951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6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3A6E"/>
                </a:solidFill>
                <a:latin typeface="Arial"/>
              </a:rPr>
              <a:t>Power-Law Exponent α  (more negative = steeper decay)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α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BB1-4EDE-BB1D-29AED172026E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B1-4EDE-BB1D-29AED172026E}"/>
              </c:ext>
            </c:extLst>
          </c:dPt>
          <c:dPt>
            <c:idx val="2"/>
            <c:invertIfNegative val="0"/>
            <c:bubble3D val="0"/>
            <c:spPr>
              <a:solidFill>
                <a:srgbClr val="2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B1-4EDE-BB1D-29AED172026E}"/>
              </c:ext>
            </c:extLst>
          </c:dPt>
          <c:dPt>
            <c:idx val="3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B1-4EDE-BB1D-29AED172026E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GC Small
(−1.866)</c:v>
                </c:pt>
                <c:pt idx="1">
                  <c:v>GC Operational
(−1.846)</c:v>
                </c:pt>
                <c:pt idx="2">
                  <c:v>GC Full
(−1.843)</c:v>
                </c:pt>
                <c:pt idx="3">
                  <c:v>Kolmogorov
(−1.667)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-1.8660000000000001</c:v>
                </c:pt>
                <c:pt idx="1">
                  <c:v>-1.8460000000000001</c:v>
                </c:pt>
                <c:pt idx="2">
                  <c:v>-1.843</c:v>
                </c:pt>
                <c:pt idx="3">
                  <c:v>-1.667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B1-4EDE-BB1D-29AED17202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6E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1E3A6E"/>
                </a:solidFill>
                <a:latin typeface="Arial"/>
              </a:rPr>
              <a:t>Hydrodynamic Entropy S_H — All Architectures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S_H (bits)</c:v>
                </c:pt>
              </c:strCache>
            </c:strRef>
          </c:tx>
          <c:spPr>
            <a:solidFill>
              <a:srgbClr val="2B5EA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46-4DD6-B776-0C039700F998}"/>
              </c:ext>
            </c:extLst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46-4DD6-B776-0C039700F99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46-4DD6-B776-0C039700F998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46-4DD6-B776-0C039700F998}"/>
              </c:ext>
            </c:extLst>
          </c:dPt>
          <c:dPt>
            <c:idx val="4"/>
            <c:invertIfNegative val="0"/>
            <c:bubble3D val="0"/>
            <c:spPr>
              <a:solidFill>
                <a:srgbClr val="1E3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C46-4DD6-B776-0C039700F998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VGG-16</c:v>
                </c:pt>
                <c:pt idx="1">
                  <c:v>VGG-19</c:v>
                </c:pt>
                <c:pt idx="2">
                  <c:v>GC Small</c:v>
                </c:pt>
                <c:pt idx="3">
                  <c:v>GC Oper.</c:v>
                </c:pt>
                <c:pt idx="4">
                  <c:v>GC Full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1.0666</c:v>
                </c:pt>
                <c:pt idx="1">
                  <c:v>1.1028</c:v>
                </c:pt>
                <c:pt idx="2">
                  <c:v>1.2049000000000001</c:v>
                </c:pt>
                <c:pt idx="3">
                  <c:v>1.2055</c:v>
                </c:pt>
                <c:pt idx="4">
                  <c:v>1.2061999999999999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C46-4DD6-B776-0C039700F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41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A38A-EAC7-651B-15AC-70A2E45A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908E1-4DAD-5AD0-E511-F6607722B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E90F2-9066-EFD2-7EC6-DA54FAAA8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231DD-7DE2-F72E-278E-1FF96E982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23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51778-20C0-DCE0-0131-84786C08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B259C-4241-E5A1-26C1-0DEB2300C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1CF5F-139C-5A41-6AC3-32926AF33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46628-F528-7524-074C-34627BE4E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5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62D5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Hydrodynamic Entropy in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9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r>
              <a:rPr lang="en-US" sz="1800" i="1" dirty="0">
                <a:solidFill>
                  <a:srgbClr val="9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VGG-16 · VGG-19 · GraphCast Small · Operational · Full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apply turbulence theory to neural networks?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53035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turbulent flows and deep networks process information across multiple spatial scales simultaneously.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  described how energy cascades from large eddies (low wavenumber) to small eddies (high wavenumber) via a power law E(k) ~ k^(-5/3).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layers build progressively larger receptive fields — a perfect analogy for spatial scale.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energy (mean squared weights) is distributed across scales reveals hidden structure in learned representations.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hydrodynamic entropy S_H = -Σ p_i log₂(p_i) quantifies multi-scale balance in a single interpretable number.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777240"/>
            <a:ext cx="29260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0" y="777240"/>
            <a:ext cx="6400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850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Wavenumber  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89320" y="11064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1/R_receptive_field — larger k = finer spatial detail interrogated by the 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783080"/>
            <a:ext cx="29260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1783080"/>
            <a:ext cx="64008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856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Energy  E(k)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21122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mean(W²) per layer — how much learned energy is invested at each scale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788920"/>
            <a:ext cx="29260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278892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862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 S_H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31181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-Σ p_i log₂(p_i) where p_i = E_i / ΣE — uniformity of multi-scale energy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3794760"/>
            <a:ext cx="29260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3794760"/>
            <a:ext cx="64008" cy="91440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3867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 Law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412394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E(k) ~ k^(-5/3) — the benchmark turbulence reference (α = -1.667)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Receptive Field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R_out  =  R_in  +  (k − 1) × jump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 = kernel size,  jump = product of all preceding strides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Scale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E(k)  =  mean(W²)  per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624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| or |  mean ||W·x||² per mesh level  (GNNs)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Hydrodynamic Entropy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p_i = E_i / Σ E_j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3721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S_H = −Σ p_i · log₂(</a:t>
            </a:r>
            <a:r>
              <a:rPr lang="en-US" sz="1500" b="1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p_i</a:t>
            </a: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40599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S_max = log₂(N_layers)   |   Normalised = S_H / S_max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749808"/>
            <a:ext cx="3931920" cy="41148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868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18872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= 0  →  all energy in ONE scale (maximally ordered)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= S_max  →  energy perfectly uniform across all scales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S_H/S_max  →  concentrated, scale-biased learning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S_H/S_max  →  balanced multi-scale representation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 α = −5/3: turbulent reference for power-law comparison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α: energy rises toward fine scales (anti-turbulent)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α near −5/3: near-turbulent spectral cascade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5E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 ·  VGG-16  ·  VGG-19  —  Receptive Field &amp; Weight Energy Analysis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Architecture &amp; Receptive Field Growth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 layers  |  Aggressive early stride  |  Max RF = 163 px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6217920" cy="3566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(px)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11×11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685800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0" y="109728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995160" y="1170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11×11 at Stride 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95160" y="142646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large initial kernel creates coarse 4-pixel jumps, rapidly expanding receptive field from 1 to 11 px in one step.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2240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2240280"/>
            <a:ext cx="64008" cy="109728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2313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px Max RF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95160" y="256946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conv + 3 pool layers, the final convolution sees a 163×163 pixel region of the input image.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3383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0" y="338328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Jumps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95160" y="371246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Stride-4 + MaxPool combinations create discontinuous scale jumps rather than the smooth growth seen in VGG.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EF1FB-5A97-0767-29D2-EB4EEF32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4FC284-73AE-B784-0388-1A4F1D6175A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AE5EB9-D5F8-1C16-92EC-30FFB011EE14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Architecture &amp; Receptive Field Growth</a:t>
            </a:r>
            <a:endParaRPr lang="en-US" sz="2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220CEC-9142-22A7-3B58-A2870E1335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7" y="739067"/>
            <a:ext cx="4490573" cy="192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A6A562-F1F6-E850-5459-6538E20E3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" y="2898402"/>
            <a:ext cx="4509231" cy="19238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8A8BF9-B37B-2FEF-D521-8211C9F4F2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658" y="1837199"/>
            <a:ext cx="4504552" cy="19238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200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— Architecture: 13 Conv Layers, All 3×3 Kernels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2+2+3+3+3 conv layers across 5 blocks  |  Max RF = 196 px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3840480" cy="3657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E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(px)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conv1_1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conv1_2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pool1 (2,s2)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conv2_1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conv2_2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pool2 (2,s2)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conv3_1–3_3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pool3 (2,s2)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conv4_1–4_3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pool4 (2,s2)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conv5_1–5_3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132–196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F6C7625-E0E4-D161-C302-EEC02928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831" y="1097280"/>
            <a:ext cx="45093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— Energy Distribution &amp; Hydrodynamic Entropy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737360" cy="10058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304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777240"/>
            <a:ext cx="1737360" cy="100584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8229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40280" y="13304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S_max  log₂(13)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777240"/>
            <a:ext cx="173736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8229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114800" y="13304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/ S_max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777240"/>
            <a:ext cx="173736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8229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+1.052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989320" y="13304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Law 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777240"/>
            <a:ext cx="960120" cy="10058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822960"/>
            <a:ext cx="9601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133045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 Layer 1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192024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466344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63440" y="228600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conv1_1 alone holds ~70.4% of total network energy — an extraordinary concentration at the finest scale (R=3 px).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entropy of 28.8% is far below 0.5, confirming a highly ordered, non-uniform distribution.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exponent α = +1.052 is POSITIVE — energy rises toward finer scales, the opposite of Kolmogorov turbulence.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'anti-turbulent': it encodes most of its learned representation in low-level edge detectors.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layers (60–196 px RF) contribute negligibly to the energy budget despite having many more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VGG-19 — Extension &amp;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conv layers  |  Adds 1 extra conv to blocks 3, 4, 5  |  Max RF = 252 px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9144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1920240" cy="91440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31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S_max  log₂(16)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19202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/ S_max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097280"/>
            <a:ext cx="19202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px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RF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17920" y="219456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VGG-19 adds 3 layers but barely changes the energy profile — S_H rises by only 0.036.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remain in the same qualitative regime: extreme fine-scale concentration.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depth slightly broadens the distribution but does NOT shift the dominant scale.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family is robustly anti-turbulent regardless of depth.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5BA107F-FFF6-4516-9ECA-FF79B0D5E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10" y="2274888"/>
            <a:ext cx="5731510" cy="24453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Summary — Energy Concentration at Fine Scales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316523" y="1005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Conclusions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239151" y="1664384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CNNs are ANTI-TURBULENT: positive power-law α means energy rises toward fine scales (small R).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S_H &lt; 30% — extreme scale bias concentrated in the first 1–2 layers.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(VGG-16 → VGG-19) marginally broadens the distribution but does not change the qualitative regime.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encodes learned features primarily as low-level edge/texture detectors at 3–14 px receptive fields.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5E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— GNN Weather Models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Small  ·  GraphCast Operational  ·  GraphCast Full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Energy Spectra on Icosahedral Meshes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— Global Weather Forecasting via GNNs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(2023)  |  Trained on ERA5 reanalysis  |  6-hour forecast 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24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Grid2Mesh Encoder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80744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atmospheric state (temperature, wind, geopotential) from a regular lat-lon grid to icosahedral mesh nodes. Encoder weight W[4×512] projects 4D geometric edge features.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51560"/>
            <a:ext cx="64008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124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GNN Processor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380744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message-passing steps on the multi-resolution icosahedral mesh. Each step propagates information across ~327K edges (Full model).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051560"/>
            <a:ext cx="64008" cy="13716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124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Mesh2Grid Decoder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1380744"/>
            <a:ext cx="2286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processed mesh embeddings back to the lat-lon grid to produce forecast outputs for all atmospheric variables.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Small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M0–M5 (6)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 1979–2015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Operational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M0–M6 (7)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327,660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ERA5-HRES 1979–2021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M0–M6 (7)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327,660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 1979–2017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Icosahedral Mesh Structure &amp; W·x Energy Method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hierarchy — Full &amp; Operational models (mesh_size=6, M0–M6)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555287"/>
              </p:ext>
            </p:extLst>
          </p:nvPr>
        </p:nvGraphicFramePr>
        <p:xfrm>
          <a:off x="960121" y="1143000"/>
          <a:ext cx="3200400" cy="38404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(km)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61,440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245,760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75717" y="1115568"/>
            <a:ext cx="2286000" cy="384048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143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W·x Projection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0" y="146304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Edge geometry vector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features per edge)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shape: [4 × 512]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weight matrix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across levels)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W·x → [n_edges, 512]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E(k):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||W·x||²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mesh level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Energy Spectra — W·x Mean Per Edge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All 3 models nearly identical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35040" y="114300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dominates with ~4.3–4.6 E(k).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decays geometrically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Small, Operational, and Full curves are nearly superimposed despite different depths.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law decay is consistent with turbulent cascade (negative α ≈ −1.85).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308A6-2DA1-A468-856E-1FA50671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B03514-1383-A56E-8016-1D54F341E21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3DE7FF-B89D-7F7B-BF9B-8317EAE72961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Energy Spectra — W·x Mean Per Edge</a:t>
            </a: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CB36DD-7AE2-ED08-A692-FD8C8B38C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63" y="769595"/>
            <a:ext cx="5250229" cy="2038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0B2747-47D1-52AC-236F-03892C9CA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63" y="2808378"/>
            <a:ext cx="5250229" cy="2175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602EF-78C9-4F11-9AC5-D137C09BF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893" y="1904104"/>
            <a:ext cx="3664234" cy="142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3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— Hydrodynamic Entropy Across Checkpoints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0530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Small  S_H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192024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82296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30530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Operational  S_H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777240"/>
            <a:ext cx="1920240" cy="96012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82296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80560" y="130530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Full  S_H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777240"/>
            <a:ext cx="2240280" cy="96012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822960"/>
            <a:ext cx="22402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537960" y="130530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 α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263148408"/>
              </p:ext>
            </p:extLst>
          </p:nvPr>
        </p:nvGraphicFramePr>
        <p:xfrm>
          <a:off x="365760" y="1874520"/>
          <a:ext cx="45720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212080" y="1874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Findings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21945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values across all 3 checkpoints differ by only 0.001 — essentially identical.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Small normalised: S_H/S_max = 46.6% (6 levels).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Operational &amp; Full: S_H/S_max ≈ 43.0% (7 levels).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R² &gt; 0.998 across all models — excellent power-law fits.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consistently holds ~70.5% of energy across all checkpoints.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Exponents — GraphCast vs Kolmogorov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822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Near-Kolmogorov Scaling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114300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produce α in the tight range −1.843 to −1.866.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 reference: α = −5/3 ≈ −1.667 (turbulent inertial range).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exponents are ~0.18 steeper than Kolmogorov, not equal.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0.998 confirms excellent power-law fit across 5–6 decade-spanning mesh levels.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5E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Cross-Architecture Comparison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Classifiers  vs  GraphCast GNN Weather Models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Opposite Energy Regimes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Energy Regimes: Anti-Turbulent CNNs vs Near-Turbulent GraphCast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023360" cy="32004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49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749808"/>
            <a:ext cx="42976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749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GNNs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374903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 (AlexNet/VGG)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GraphCast (GNNs)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Finest (R=3–11 px)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Coarsest (L=10,008 km)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law 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+1.052 (positive)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−1.84 to −1.87 (negative)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Turbulence analogy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Anti-turbulent (inverted)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Near-turbulent cascade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S_H / S_max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~28% (highly ordered)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~43–47% (moderate)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M0/Layer1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&gt;70% in layer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~70.5% at M0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Bottom-up feature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Top-down global dynamics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 Comparison Across All Six Architectures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641992512"/>
              </p:ext>
            </p:extLst>
          </p:nvPr>
        </p:nvGraphicFramePr>
        <p:xfrm>
          <a:off x="365760" y="77724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0" y="114300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architectures show low S_H relative to their S_max — none is fully scale-balanced.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(VGG-16, -19) have slightly lower absolute S_H than GraphCast models.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variants differ by only 0.001 — remarkable consistency across checkpoint scale/depth.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architectures. Two domains. One framework. Universal scale-bias in deep learning.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1005840"/>
          </a:xfrm>
          <a:prstGeom prst="rect">
            <a:avLst/>
          </a:prstGeom>
          <a:solidFill>
            <a:srgbClr val="2B5EA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419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Power Law 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(Anti-Turbulent)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18872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2344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3160" y="17419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Power Law 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(Near-Turbulent)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192024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2344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28–47%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17419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S_H/S_max Range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188720"/>
            <a:ext cx="2240280" cy="10058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234440"/>
            <a:ext cx="22402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174193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5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Hydrodynamic entropy S_H provides a rigorous, interpretable scalar for comparing energy distribution across any deep network.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classifiers are anti-turbulent: energy concentrates at fine scales (R=3–11 px) with positive power-law exponents (+1.05).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 GNNs are near-turbulent: energy decays from planetary scale (M0) following α ≈ −1.85, close to Kolmogorov −5/3.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architectures share one universal feature: ~70% of energy in a single dominant scale, regardless of domain or depth.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GraphCast's spectral shape is robust across Small / Operational / Full checkpoints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is extensible to Transformers, ResNets, diffusion models, and any architecture with assignable spatial scales.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62D5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1968</Words>
  <Application>Microsoft Office PowerPoint</Application>
  <PresentationFormat>On-screen Show (16:9)</PresentationFormat>
  <Paragraphs>343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Hydrodynamic Entropy in Deep Neural Networks</dc:title>
  <dc:subject>PptxGenJS Presentation</dc:subject>
  <dc:creator>PptxGenJS</dc:creator>
  <cp:lastModifiedBy>seetaramayya lavu</cp:lastModifiedBy>
  <cp:revision>2</cp:revision>
  <dcterms:created xsi:type="dcterms:W3CDTF">2026-04-24T18:22:06Z</dcterms:created>
  <dcterms:modified xsi:type="dcterms:W3CDTF">2026-04-24T19:17:16Z</dcterms:modified>
</cp:coreProperties>
</file>